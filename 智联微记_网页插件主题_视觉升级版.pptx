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91840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0" y="105156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35240" y="1234439"/>
            <a:ext cx="2880360" cy="4005072"/>
          </a:xfrm>
          <a:prstGeom prst="roundRect">
            <a:avLst/>
          </a:prstGeom>
          <a:solidFill>
            <a:srgbClr val="78A5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5279" y="1417319"/>
            <a:ext cx="2468880" cy="3621024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75320" y="1600200"/>
            <a:ext cx="2057400" cy="3236976"/>
          </a:xfrm>
          <a:prstGeom prst="roundRect">
            <a:avLst/>
          </a:prstGeom>
          <a:solidFill>
            <a:srgbClr val="78A5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0" y="1783080"/>
            <a:ext cx="1645920" cy="2852928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09728"/>
            <a:ext cx="5943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53896"/>
                </a:solidFill>
              </a:defRPr>
            </a:pPr>
            <a:r>
              <a:t>智联微记｜网页插件主题展示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09728"/>
            <a:ext cx="2651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0">
                <a:solidFill>
                  <a:srgbClr val="5D7096"/>
                </a:solidFill>
              </a:defRPr>
            </a:pPr>
            <a:r>
              <a:t>视觉升级版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9728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112248"/>
                </a:solidFill>
              </a:defRPr>
            </a:pPr>
            <a:r>
              <a:t>网页信息</a:t>
            </a:r>
            <a:br/>
            <a:r>
              <a:t>一键沉淀为知识网络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5D7096"/>
                </a:solidFill>
              </a:defRPr>
            </a:pPr>
            <a:r>
              <a:t>插件快速采集 + 仪表盘管理 + 图谱复盘</a:t>
            </a:r>
            <a:br/>
            <a:r>
              <a:t>简约科技风，突出专业与效率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011680"/>
            <a:ext cx="3154680" cy="658368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1671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开始截图摘录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907792"/>
            <a:ext cx="3154680" cy="658368"/>
          </a:xfrm>
          <a:prstGeom prst="roundRect">
            <a:avLst/>
          </a:prstGeom>
          <a:solidFill>
            <a:srgbClr val="4B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063240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打开知识图谱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803904"/>
            <a:ext cx="3154680" cy="658368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3959352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打开仪表盘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29200"/>
            <a:ext cx="19659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138928"/>
            <a:ext cx="1645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53896"/>
                </a:solidFill>
              </a:defRPr>
            </a:pPr>
            <a:r>
              <a:t>3端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468112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5D7096"/>
                </a:solidFill>
              </a:defRPr>
            </a:pPr>
            <a:r>
              <a:t>插件/前端/后端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5029200"/>
            <a:ext cx="19659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1528" y="5138928"/>
            <a:ext cx="1645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53896"/>
                </a:solidFill>
              </a:defRPr>
            </a:pPr>
            <a:r>
              <a:t>4步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1528" y="5468112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5D7096"/>
                </a:solidFill>
              </a:defRPr>
            </a:pPr>
            <a:r>
              <a:t>采集→整理→关联→复用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5029200"/>
            <a:ext cx="19659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0368" y="5138928"/>
            <a:ext cx="1645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53896"/>
                </a:solidFill>
              </a:defRPr>
            </a:pPr>
            <a:r>
              <a:t>3层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5468112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5D7096"/>
                </a:solidFill>
              </a:defRPr>
            </a:pPr>
            <a:r>
              <a:t>主题→分支→知识点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"/>
            <a:ext cx="12191695" cy="4572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53896"/>
                </a:solidFill>
              </a:defRPr>
            </a:pPr>
            <a:r>
              <a:t>功能全景｜Feature Panorama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86384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2248"/>
                </a:solidFill>
              </a:defRPr>
            </a:pPr>
            <a:r>
              <a:t>插件到系统的完整能力链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94960" cy="3913632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393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53896"/>
                </a:solidFill>
              </a:defRPr>
            </a:pPr>
            <a:r>
              <a:t>插件侧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502920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2248"/>
                </a:solidFill>
              </a:defRPr>
            </a:pPr>
            <a:r>
              <a:t>• 截图选区摘录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主题/分支必填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保存状态反馈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一键跳转图谱与仪表盘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40280"/>
            <a:ext cx="5394960" cy="3913632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6829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53896"/>
                </a:solidFill>
              </a:defRPr>
            </a:pPr>
            <a:r>
              <a:t>仪表盘侧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70632"/>
            <a:ext cx="502920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2248"/>
                </a:solidFill>
              </a:defRPr>
            </a:pPr>
            <a:r>
              <a:t>• 笔记管理、搜索、删除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编辑页支持图片粘贴上传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主题标签维护与复用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快捷回流知识图谱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394960" cy="3913632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8853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53896"/>
                </a:solidFill>
              </a:defRPr>
            </a:pPr>
            <a:r>
              <a:t>图谱侧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502920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2248"/>
                </a:solidFill>
              </a:defRPr>
            </a:pPr>
            <a:r>
              <a:t>• 多星系分簇布局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主题/分支双筛选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同分支聚焦节点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节点详情与关联展开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12248"/>
                </a:solidFill>
              </a:defRPr>
            </a:pPr>
            <a:r>
              <a:t>操作流程｜从采集到复盘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834640"/>
            <a:ext cx="10241280" cy="73152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331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50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3230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53896"/>
                </a:solidFill>
              </a:defRPr>
            </a:pPr>
            <a:r>
              <a:t>打开插件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6148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80" b="0">
                <a:solidFill>
                  <a:srgbClr val="5D7096"/>
                </a:solidFill>
              </a:defRPr>
            </a:pPr>
            <a:r>
              <a:t>进入截图摘录模式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520440"/>
            <a:ext cx="274320" cy="27432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331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450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3230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53896"/>
                </a:solidFill>
              </a:defRPr>
            </a:pPr>
            <a:r>
              <a:t>结构化录入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6148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80" b="0">
                <a:solidFill>
                  <a:srgbClr val="5D7096"/>
                </a:solidFill>
              </a:defRPr>
            </a:pPr>
            <a:r>
              <a:t>填写主题与分支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520440"/>
            <a:ext cx="274320" cy="27432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2331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450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3230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53896"/>
                </a:solidFill>
              </a:defRPr>
            </a:pPr>
            <a:r>
              <a:t>仪表盘管理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6148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80" b="0">
                <a:solidFill>
                  <a:srgbClr val="5D7096"/>
                </a:solidFill>
              </a:defRPr>
            </a:pPr>
            <a:r>
              <a:t>编辑/删除/检索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79" y="3520440"/>
            <a:ext cx="274320" cy="27432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2331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2450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432304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53896"/>
                </a:solidFill>
              </a:defRPr>
            </a:pPr>
            <a:r>
              <a:t>图谱复盘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6148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80" b="0">
                <a:solidFill>
                  <a:srgbClr val="5D7096"/>
                </a:solidFill>
              </a:defRPr>
            </a:pPr>
            <a:r>
              <a:t>筛选并查看关联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3520440"/>
            <a:ext cx="274320" cy="27432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1605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5D7096"/>
                </a:solidFill>
              </a:defRPr>
            </a:pPr>
            <a:r>
              <a:t>插件弹窗截图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41605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9834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5D7096"/>
                </a:solidFill>
              </a:defRPr>
            </a:pPr>
            <a:r>
              <a:t>摘录浮层截图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416052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49834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5D7096"/>
                </a:solidFill>
              </a:defRPr>
            </a:pPr>
            <a:r>
              <a:t>图谱筛选截图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2248"/>
                </a:solidFill>
              </a:defRPr>
            </a:pPr>
            <a:r>
              <a:t>成果视图｜Dashboard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5D7096"/>
                </a:solidFill>
              </a:defRPr>
            </a:pPr>
            <a:r>
              <a:t>以可视化指标呈现项目完成度与演示价值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53896"/>
                </a:solidFill>
              </a:defRPr>
            </a:pPr>
            <a: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功能完整度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53896"/>
                </a:solidFill>
              </a:defRPr>
            </a:pPr>
            <a: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5786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视觉表现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59" y="1828800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53896"/>
                </a:solidFill>
              </a:defRPr>
            </a:pPr>
            <a:r>
              <a:t>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786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交互体验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19" y="1828800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53896"/>
                </a:solidFill>
              </a:defRPr>
            </a:pPr>
            <a: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19" y="25786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插件可用性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675887"/>
            <a:ext cx="6217920" cy="182880"/>
          </a:xfrm>
          <a:prstGeom prst="roundRect">
            <a:avLst/>
          </a:prstGeom>
          <a:solidFill>
            <a:srgbClr val="E9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0320" y="3675887"/>
            <a:ext cx="5533948" cy="182880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65760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3896"/>
                </a:solidFill>
              </a:defRPr>
            </a:pPr>
            <a: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图谱可读性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315968"/>
            <a:ext cx="6217920" cy="182880"/>
          </a:xfrm>
          <a:prstGeom prst="roundRect">
            <a:avLst/>
          </a:prstGeom>
          <a:solidFill>
            <a:srgbClr val="E9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60320" y="4315968"/>
            <a:ext cx="5658307" cy="182880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429768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3896"/>
                </a:solidFill>
              </a:defRPr>
            </a:pPr>
            <a:r>
              <a:t>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3776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结构化程度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956048"/>
            <a:ext cx="6217920" cy="182880"/>
          </a:xfrm>
          <a:prstGeom prst="roundRect">
            <a:avLst/>
          </a:prstGeom>
          <a:solidFill>
            <a:srgbClr val="E9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956048"/>
            <a:ext cx="5782665" cy="182880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493776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3896"/>
                </a:solidFill>
              </a:defRPr>
            </a:pPr>
            <a:r>
              <a:t>93%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77840"/>
            <a:ext cx="2011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D7096"/>
                </a:solidFill>
              </a:defRPr>
            </a:pPr>
            <a:r>
              <a:t>演示完成度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5596127"/>
            <a:ext cx="6217920" cy="182880"/>
          </a:xfrm>
          <a:prstGeom prst="roundRect">
            <a:avLst/>
          </a:prstGeom>
          <a:solidFill>
            <a:srgbClr val="E9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5596127"/>
            <a:ext cx="5907024" cy="182880"/>
          </a:xfrm>
          <a:prstGeom prst="roundRect">
            <a:avLst/>
          </a:prstGeom>
          <a:solidFill>
            <a:srgbClr val="62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5577840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3896"/>
                </a:solidFill>
              </a:defRPr>
            </a:pPr>
            <a:r>
              <a:t>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"/>
            <a:ext cx="18288" cy="649224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0" y="182880"/>
            <a:ext cx="18288" cy="649224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182880"/>
            <a:ext cx="18288" cy="649224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82880"/>
            <a:ext cx="18288" cy="649224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"/>
            <a:ext cx="18288" cy="649224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0" y="182880"/>
            <a:ext cx="18288" cy="649224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07040" y="182880"/>
            <a:ext cx="18288" cy="6492240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914400"/>
            <a:ext cx="11612880" cy="18288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11612880" cy="18288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11612880" cy="18288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5029200"/>
            <a:ext cx="11612880" cy="18288"/>
          </a:xfrm>
          <a:prstGeom prst="rect">
            <a:avLst/>
          </a:prstGeom>
          <a:solidFill>
            <a:srgbClr val="78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技术架构｜Architecture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371600"/>
            <a:ext cx="3566160" cy="4480560"/>
          </a:xfrm>
          <a:prstGeom prst="roundRect">
            <a:avLst/>
          </a:prstGeom>
          <a:solidFill>
            <a:srgbClr val="224CB4"/>
          </a:solidFill>
          <a:ln>
            <a:solidFill>
              <a:srgbClr val="78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8132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插件层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810512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t>• Manifest V3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Popup + Content + SW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消息协议统一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371600"/>
            <a:ext cx="3566160" cy="4480560"/>
          </a:xfrm>
          <a:prstGeom prst="roundRect">
            <a:avLst/>
          </a:prstGeom>
          <a:solidFill>
            <a:srgbClr val="224CB4"/>
          </a:solidFill>
          <a:ln>
            <a:solidFill>
              <a:srgbClr val="78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48132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前端层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810512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t>• Vue3 + Vite + Pinia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Dashboard / Graph / Editor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权限路由守卫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200400" cy="4480560"/>
          </a:xfrm>
          <a:prstGeom prst="roundRect">
            <a:avLst/>
          </a:prstGeom>
          <a:solidFill>
            <a:srgbClr val="224CB4"/>
          </a:solidFill>
          <a:ln>
            <a:solidFill>
              <a:srgbClr val="78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48132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后端层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810512"/>
            <a:ext cx="28346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</a:defRPr>
            </a:pPr>
            <a:r>
              <a:t>• Express REST API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JWT 鉴权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LowDB + Multer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2248"/>
                </a:solidFill>
              </a:defRPr>
            </a:pPr>
            <a:r>
              <a:t>知识图谱亮点｜Graph Spotlight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322222"/>
            <a:ext cx="4389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AAC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09160" y="1302105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AAC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0" y="1281988"/>
            <a:ext cx="2377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AAC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1261872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AAC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7889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3896"/>
                </a:solidFill>
              </a:defRPr>
            </a:pPr>
            <a:r>
              <a:t>主题恒星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063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D7096"/>
                </a:solidFill>
              </a:defRPr>
            </a:pPr>
            <a:r>
              <a:t>分支轨道 · 知识行星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029200" cy="3913632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82495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53896"/>
                </a:solidFill>
              </a:defRPr>
            </a:pPr>
            <a:r>
              <a:t>可视化优势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1"/>
            <a:ext cx="466344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2248"/>
                </a:solidFill>
              </a:defRPr>
            </a:pPr>
            <a:r>
              <a:t>• 多星系分簇，减少节点拥挤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主题与分支双维筛选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点击节点查看内容摘要与图片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同分支聚焦辅助复盘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029200" cy="3529584"/>
          </a:xfrm>
          <a:prstGeom prst="roundRect">
            <a:avLst/>
          </a:prstGeom>
          <a:solidFill>
            <a:srgbClr val="FFFF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42816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53896"/>
                </a:solidFill>
              </a:defRPr>
            </a:pPr>
            <a:r>
              <a:t>交互体验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466344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2248"/>
                </a:solidFill>
              </a:defRPr>
            </a:pPr>
            <a:r>
              <a:t>• 双击聚焦、重置视角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节点高亮与关系线弱化</a:t>
            </a:r>
          </a:p>
          <a:p>
            <a:pPr>
              <a:defRPr sz="1200">
                <a:solidFill>
                  <a:srgbClr val="112248"/>
                </a:solidFill>
              </a:defRPr>
            </a:pPr>
            <a:r>
              <a:t>• 适合课堂演示与答辩讲解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12248"/>
                </a:solidFill>
              </a:defRPr>
            </a:pPr>
            <a:r>
              <a:t>改进前后对比｜Before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94960" cy="5029200"/>
          </a:xfrm>
          <a:prstGeom prst="roundRect">
            <a:avLst/>
          </a:prstGeom>
          <a:solidFill>
            <a:srgbClr val="FAFC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94960" cy="5029200"/>
          </a:xfrm>
          <a:prstGeom prst="roundRect">
            <a:avLst/>
          </a:prstGeom>
          <a:solidFill>
            <a:srgbClr val="F1F7FF"/>
          </a:solidFill>
          <a:ln>
            <a:solidFill>
              <a:srgbClr val="D7E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7E889B"/>
                </a:solidFill>
              </a:defRPr>
            </a:pPr>
            <a:r>
              <a:t>传统记录方式（Before）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53896"/>
                </a:solidFill>
              </a:defRPr>
            </a:pPr>
            <a:r>
              <a:t>智联微记方案（After）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788296"/>
                </a:solidFill>
              </a:defRPr>
            </a:pPr>
            <a:r>
              <a:t>• 截图散落在本地文件夹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788296"/>
                </a:solidFill>
              </a:defRPr>
            </a:pPr>
            <a:r>
              <a:t>• 收藏夹堆积难检索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788296"/>
                </a:solidFill>
              </a:defRPr>
            </a:pPr>
            <a:r>
              <a:t>• 缺乏结构化分支维度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788296"/>
                </a:solidFill>
              </a:defRPr>
            </a:pPr>
            <a:r>
              <a:t>• 复盘时难看出知识关系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12248"/>
                </a:solidFill>
              </a:defRPr>
            </a:pPr>
            <a:r>
              <a:t>• 插件内直接采集并入库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0175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12248"/>
                </a:solidFill>
              </a:defRPr>
            </a:pPr>
            <a:r>
              <a:t>• 主题/分支/标签结构化管理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794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12248"/>
                </a:solidFill>
              </a:defRPr>
            </a:pPr>
            <a:r>
              <a:t>• 图谱可视化展示关联网络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720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112248"/>
                </a:solidFill>
              </a:defRPr>
            </a:pPr>
            <a:r>
              <a:t>• 同分支聚焦提升复盘效率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4572000"/>
            <a:ext cx="4754880" cy="2560320"/>
          </a:xfrm>
          <a:prstGeom prst="roundRect">
            <a:avLst/>
          </a:prstGeom>
          <a:solidFill>
            <a:srgbClr val="D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19" y="4251960"/>
            <a:ext cx="4754880" cy="2560320"/>
          </a:xfrm>
          <a:prstGeom prst="roundRect">
            <a:avLst/>
          </a:prstGeom>
          <a:solidFill>
            <a:srgbClr val="D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6240" y="3931920"/>
            <a:ext cx="4754880" cy="2560320"/>
          </a:xfrm>
          <a:prstGeom prst="roundRect">
            <a:avLst/>
          </a:prstGeom>
          <a:solidFill>
            <a:srgbClr val="D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59" y="3611880"/>
            <a:ext cx="4754880" cy="2560320"/>
          </a:xfrm>
          <a:prstGeom prst="roundRect">
            <a:avLst/>
          </a:prstGeom>
          <a:solidFill>
            <a:srgbClr val="D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3291840"/>
            <a:ext cx="4754880" cy="2560320"/>
          </a:xfrm>
          <a:prstGeom prst="roundRect">
            <a:avLst/>
          </a:prstGeom>
          <a:solidFill>
            <a:srgbClr val="D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53896"/>
                </a:solidFill>
              </a:defRPr>
            </a:pPr>
            <a:r>
              <a:t>感谢聆听 ·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5D7096"/>
                </a:solidFill>
              </a:defRPr>
            </a:pPr>
            <a:r>
              <a:t>智联微记：让网页信息从“可见”走向“可用、可复盘、可迁移”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977639"/>
            <a:ext cx="3931920" cy="82296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24528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课程汇报 / 产品介绍 / 毕设答辩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